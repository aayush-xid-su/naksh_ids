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BAA9"/>
    <a:srgbClr val="AE2448"/>
    <a:srgbClr val="A1A0A8"/>
    <a:srgbClr val="2A166F"/>
    <a:srgbClr val="0191DE"/>
    <a:srgbClr val="555555"/>
    <a:srgbClr val="8B0000"/>
    <a:srgbClr val="333333"/>
    <a:srgbClr val="F5F5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D3B8-D7F4-985B-11B1-FE603AD12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3B6E5-D408-D850-0262-5F879763A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20A4D-BA6E-496B-6CFF-41F37BEA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ED25-AED7-81E3-70B4-2A4EC274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466C9-7C1C-FFC4-09B2-89C714B6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34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B6DC-AD9B-59C9-CAB8-1098250E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BA85-CCAE-7152-45AB-7C75DA19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21308-2EDF-503B-872E-407D4755D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C827-8D6A-E3D0-00C0-92A0C47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97407-2902-2920-B2B6-4D7703DE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93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BBE9-0DB7-C430-1345-69A1AFED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B5D39-FFEA-F7CF-9919-F2DF8043C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4311D-3BD5-7DF3-0CBE-DCBD629F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3900-A4B5-99EA-D1D2-BC61034F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454B-A520-0D6D-E200-A627AE63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44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DB9A-C93A-57C4-BDE6-EE2264B6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BFCC-BF43-6ABB-DEE0-D5726F35F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EFA93-011F-0D7B-D2C6-3BE0A27FA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9D244-38A7-4656-DC6D-8A2AD00A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23002-2688-D3B9-DC92-775B90B7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CDA0E-5BCF-AE75-D7DF-5CEBBBDE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17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9BCE-D229-D592-B2A8-5D75FC81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6C63A-3578-2CED-69F5-431A10C33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752A7-4C4B-58C2-B70A-AB6568029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CC54F-C729-2794-2095-293A46FAF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5ACDC-4D45-AD7A-FACA-4E71DA636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96D6D-E87E-4F3C-306A-82376D88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360DD-390E-F912-FAA0-BCF9CF3F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70320E-4C27-398C-0DA4-7A7B3B31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2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6782-9D53-9EE5-02CC-9DB74803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B8F6E-1F19-B96B-B6B3-9FBB6652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386EA-11D4-89DA-76CF-33460F17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3EA57-80FA-AE42-73B2-2B323B80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95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285BF-77A3-64A0-E6B4-D6906BF7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80EBF-D0D6-7D90-7BD2-CA34A5E4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8099E-9988-3F2F-F2BA-CEC08A52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32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53A8-2C02-20B0-E5C2-34058321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179D-B731-24AA-33D9-4BC53E24A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37F98-9E1F-C285-B184-EF3372C77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8EB5E-05CC-55E2-004A-A1D07133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164A6-3947-88D1-87A1-E8CB6C01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C7AE4-15B6-825F-28D5-06F6C402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97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BC61-E34A-AFBA-A6FA-BC5B38FE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F59A1-FCFA-54F1-5D19-492EB946B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32D06-1C63-5278-5A05-B5D58B4CA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A64D-25BE-2EBC-E941-2A36091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4FC1F-0D3F-2FD2-4EAD-4CC37061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C48EC-C300-191E-C8B6-23980E63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85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FC6F-E012-5BC7-B2BA-3AEBDBF12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59AF2-B50E-86D2-D404-8344AB67E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6AF6-B7B8-E07D-FD85-4DC11204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76E32-EF95-50E5-57B6-4B31898B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D8D3-134E-B1DA-3EF8-1859080A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62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AEABE-3461-3964-E01C-B5C1D718E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73085-46D4-C8E2-F988-0F9C732A0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6AC87-583A-CB87-8BBE-5BB59DF0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F26EE-901A-20B0-680F-13E26A0A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E7BD6-AF80-7003-790B-658FDD65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12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1A771-B7E8-1C94-1BC9-FD6A01E0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7EF33-62F0-DF95-29C0-2ED81AFFF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91910-0297-F324-92A0-4FC66D3FF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39550-B83D-4D82-9CB7-7DBD43545AAD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F19C7-8F0F-63ED-E863-A34E28436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7113A-58D7-C6BE-EF39-1AD8AD21A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B194F-AE30-4D2C-AA12-493AE475675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69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A43B0-1D52-E033-B493-01DACDE425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91" b="89946" l="8424" r="93207">
                        <a14:foregroundMark x1="45380" y1="17391" x2="51902" y2="10190"/>
                        <a14:foregroundMark x1="51902" y1="10190" x2="50136" y2="19837"/>
                        <a14:foregroundMark x1="50136" y1="19837" x2="77446" y2="44701"/>
                        <a14:foregroundMark x1="77446" y1="44701" x2="81114" y2="52446"/>
                        <a14:foregroundMark x1="81114" y1="52446" x2="69022" y2="60054"/>
                        <a14:foregroundMark x1="69022" y1="60054" x2="67663" y2="67255"/>
                        <a14:foregroundMark x1="67663" y1="67255" x2="57473" y2="69701"/>
                        <a14:foregroundMark x1="57473" y1="69701" x2="52853" y2="77717"/>
                        <a14:foregroundMark x1="52853" y1="77717" x2="45788" y2="77446"/>
                        <a14:foregroundMark x1="45788" y1="77446" x2="39538" y2="66576"/>
                        <a14:foregroundMark x1="39538" y1="66576" x2="30707" y2="60462"/>
                        <a14:foregroundMark x1="30707" y1="60462" x2="31522" y2="45788"/>
                        <a14:foregroundMark x1="31522" y1="45788" x2="22011" y2="43886"/>
                        <a14:foregroundMark x1="22011" y1="43886" x2="31386" y2="42120"/>
                        <a14:foregroundMark x1="31386" y1="42120" x2="34239" y2="31658"/>
                        <a14:foregroundMark x1="34239" y1="31658" x2="41440" y2="27038"/>
                        <a14:foregroundMark x1="41440" y1="27038" x2="47826" y2="18207"/>
                        <a14:foregroundMark x1="47826" y1="18207" x2="48370" y2="15217"/>
                        <a14:foregroundMark x1="28261" y1="25679" x2="32337" y2="26223"/>
                        <a14:foregroundMark x1="36413" y1="25000" x2="45516" y2="27038"/>
                        <a14:foregroundMark x1="45516" y1="27038" x2="46196" y2="14674"/>
                        <a14:foregroundMark x1="46196" y1="14674" x2="46739" y2="17935"/>
                        <a14:foregroundMark x1="55027" y1="12500" x2="54484" y2="23370"/>
                        <a14:foregroundMark x1="54484" y1="23370" x2="57337" y2="12500"/>
                        <a14:foregroundMark x1="57337" y1="12500" x2="58016" y2="22011"/>
                        <a14:foregroundMark x1="55299" y1="7880" x2="47011" y2="6522"/>
                        <a14:foregroundMark x1="47011" y1="6522" x2="56114" y2="5163"/>
                        <a14:foregroundMark x1="56114" y1="5163" x2="56929" y2="9375"/>
                        <a14:foregroundMark x1="33560" y1="45245" x2="30299" y2="47011"/>
                        <a14:foregroundMark x1="36413" y1="45924" x2="30299" y2="25815"/>
                        <a14:foregroundMark x1="30299" y1="25815" x2="32201" y2="35870"/>
                        <a14:foregroundMark x1="32201" y1="35870" x2="44565" y2="32337"/>
                        <a14:foregroundMark x1="44565" y1="32337" x2="51359" y2="33288"/>
                        <a14:foregroundMark x1="52853" y1="29212" x2="55842" y2="35190"/>
                        <a14:foregroundMark x1="68750" y1="42663" x2="66712" y2="50815"/>
                        <a14:foregroundMark x1="66712" y1="50815" x2="74185" y2="51766"/>
                        <a14:foregroundMark x1="74185" y1="51766" x2="92391" y2="48777"/>
                        <a14:foregroundMark x1="92391" y1="48777" x2="93342" y2="41576"/>
                        <a14:foregroundMark x1="93342" y1="41576" x2="93342" y2="47826"/>
                        <a14:foregroundMark x1="74592" y1="28533" x2="66984" y2="30978"/>
                        <a14:foregroundMark x1="66984" y1="30978" x2="66984" y2="31386"/>
                        <a14:foregroundMark x1="49864" y1="9511" x2="45245" y2="12636"/>
                        <a14:foregroundMark x1="52310" y1="28804" x2="49321" y2="35734"/>
                        <a14:foregroundMark x1="49321" y1="35734" x2="49321" y2="35734"/>
                        <a14:foregroundMark x1="36549" y1="25000" x2="30707" y2="24592"/>
                        <a14:foregroundMark x1="41168" y1="25543" x2="35734" y2="33424"/>
                        <a14:foregroundMark x1="35734" y1="33424" x2="35734" y2="34239"/>
                        <a14:foregroundMark x1="11957" y1="47554" x2="17935" y2="43886"/>
                        <a14:foregroundMark x1="17935" y1="43886" x2="18342" y2="51766"/>
                        <a14:foregroundMark x1="18342" y1="51766" x2="10598" y2="52582"/>
                        <a14:foregroundMark x1="10598" y1="52582" x2="8424" y2="45109"/>
                        <a14:foregroundMark x1="8424" y1="45109" x2="8696" y2="41576"/>
                        <a14:foregroundMark x1="47283" y1="76766" x2="49457" y2="86413"/>
                        <a14:foregroundMark x1="49457" y1="86413" x2="49728" y2="81929"/>
                        <a14:foregroundMark x1="48234" y1="42255" x2="48505" y2="51087"/>
                        <a14:foregroundMark x1="48505" y1="51087" x2="69293" y2="43750"/>
                        <a14:foregroundMark x1="69293" y1="43750" x2="66848" y2="63179"/>
                        <a14:foregroundMark x1="66848" y1="63179" x2="69158" y2="71060"/>
                        <a14:foregroundMark x1="69158" y1="71060" x2="52989" y2="62772"/>
                        <a14:foregroundMark x1="52989" y1="62772" x2="41576" y2="72690"/>
                        <a14:foregroundMark x1="41576" y1="72690" x2="33152" y2="71332"/>
                        <a14:foregroundMark x1="33152" y1="71332" x2="28940" y2="57609"/>
                        <a14:foregroundMark x1="28940" y1="57609" x2="35190" y2="49728"/>
                        <a14:foregroundMark x1="35190" y1="49728" x2="35598" y2="47418"/>
                        <a14:foregroundMark x1="35870" y1="42120" x2="37228" y2="49185"/>
                        <a14:foregroundMark x1="37228" y1="49185" x2="37636" y2="41712"/>
                        <a14:foregroundMark x1="28804" y1="67391" x2="27446" y2="63043"/>
                        <a14:foregroundMark x1="40761" y1="61141" x2="59375" y2="60734"/>
                        <a14:foregroundMark x1="59375" y1="60734" x2="60598" y2="60734"/>
                        <a14:foregroundMark x1="55299" y1="49185" x2="49864" y2="43886"/>
                        <a14:foregroundMark x1="49864" y1="43886" x2="38859" y2="51902"/>
                        <a14:foregroundMark x1="38859" y1="51902" x2="66984" y2="45788"/>
                        <a14:foregroundMark x1="66984" y1="45788" x2="63043" y2="53533"/>
                        <a14:foregroundMark x1="51766" y1="40353" x2="50136" y2="45516"/>
                        <a14:foregroundMark x1="52446" y1="48913" x2="49864" y2="58152"/>
                        <a14:foregroundMark x1="49864" y1="58152" x2="49864" y2="58832"/>
                        <a14:foregroundMark x1="67799" y1="44701" x2="75951" y2="44293"/>
                        <a14:foregroundMark x1="75951" y1="44293" x2="76766" y2="442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030" y="944370"/>
            <a:ext cx="4931933" cy="4931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12500E-6BF2-253F-3339-1014FF80E16F}"/>
              </a:ext>
            </a:extLst>
          </p:cNvPr>
          <p:cNvGrpSpPr/>
          <p:nvPr/>
        </p:nvGrpSpPr>
        <p:grpSpPr>
          <a:xfrm>
            <a:off x="15240" y="6352770"/>
            <a:ext cx="12161520" cy="506593"/>
            <a:chOff x="15240" y="6352770"/>
            <a:chExt cx="12161520" cy="506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509268-AFD0-4355-B707-3E49A41745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15240" y="6352770"/>
              <a:ext cx="3723640" cy="50659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13D32C-CE33-43CA-9E0B-F956EA9C98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3738880" y="6352770"/>
              <a:ext cx="3723640" cy="5065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D2FC5A-61CE-CF5D-A8A6-7E5B432761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7462520" y="6352770"/>
              <a:ext cx="3723640" cy="506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C866E5B-AF29-779F-119E-972235F483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7" t="269" r="51576"/>
            <a:stretch/>
          </p:blipFill>
          <p:spPr>
            <a:xfrm rot="10800000">
              <a:off x="11186160" y="6352770"/>
              <a:ext cx="990600" cy="50523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73DD95-CA77-567B-E91D-7A183CE88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4" y="48094"/>
            <a:ext cx="1098798" cy="1030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652786-6AA0-114C-5336-BA3A599A18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4" y="78573"/>
            <a:ext cx="891044" cy="999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D5A457-8998-6C04-BA66-F212ECB281C1}"/>
              </a:ext>
            </a:extLst>
          </p:cNvPr>
          <p:cNvSpPr txBox="1"/>
          <p:nvPr/>
        </p:nvSpPr>
        <p:spPr>
          <a:xfrm>
            <a:off x="2070111" y="550072"/>
            <a:ext cx="8051770" cy="863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7030" marR="632460" indent="-5080" algn="ctr">
              <a:lnSpc>
                <a:spcPct val="107000"/>
              </a:lnSpc>
              <a:spcBef>
                <a:spcPts val="300"/>
              </a:spcBef>
            </a:pPr>
            <a:r>
              <a:rPr lang="en-US" sz="2400" b="1" spc="-25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PREDICTION OF CYBER ATTACKS USING MACHINE LEARNING TECHNIQUES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723C6-6F92-55A3-0541-22DE0186077E}"/>
              </a:ext>
            </a:extLst>
          </p:cNvPr>
          <p:cNvSpPr txBox="1"/>
          <p:nvPr/>
        </p:nvSpPr>
        <p:spPr>
          <a:xfrm>
            <a:off x="4018581" y="5876304"/>
            <a:ext cx="381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Academic Year: 2023–2026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3F03B-E300-0CB8-1FC1-27B6FB34319E}"/>
              </a:ext>
            </a:extLst>
          </p:cNvPr>
          <p:cNvSpPr txBox="1"/>
          <p:nvPr/>
        </p:nvSpPr>
        <p:spPr>
          <a:xfrm>
            <a:off x="9164320" y="4272381"/>
            <a:ext cx="27807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Presented By:-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       - Rohan Kumar Tripathy</a:t>
            </a:r>
          </a:p>
          <a:p>
            <a:r>
              <a:rPr lang="en-IN" dirty="0">
                <a:solidFill>
                  <a:srgbClr val="C00000"/>
                </a:solidFill>
              </a:rPr>
              <a:t>           R05423BCA029     &amp;</a:t>
            </a:r>
          </a:p>
          <a:p>
            <a:r>
              <a:rPr lang="en-IN" dirty="0">
                <a:solidFill>
                  <a:srgbClr val="C00000"/>
                </a:solidFill>
              </a:rPr>
              <a:t>       - Ayush Das</a:t>
            </a:r>
          </a:p>
          <a:p>
            <a:r>
              <a:rPr lang="en-IN" dirty="0">
                <a:solidFill>
                  <a:srgbClr val="C00000"/>
                </a:solidFill>
              </a:rPr>
              <a:t>           R05423BCA009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570E4F-8614-63CD-2707-304F74F9F682}"/>
              </a:ext>
            </a:extLst>
          </p:cNvPr>
          <p:cNvSpPr txBox="1"/>
          <p:nvPr/>
        </p:nvSpPr>
        <p:spPr>
          <a:xfrm>
            <a:off x="652213" y="4653023"/>
            <a:ext cx="2808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Under the Guidance of:</a:t>
            </a:r>
          </a:p>
          <a:p>
            <a:r>
              <a:rPr lang="en-GB" dirty="0" err="1"/>
              <a:t>Dr.</a:t>
            </a:r>
            <a:r>
              <a:rPr lang="en-GB" dirty="0"/>
              <a:t> </a:t>
            </a:r>
            <a:r>
              <a:rPr lang="en-GB" dirty="0" err="1"/>
              <a:t>Jagamohan</a:t>
            </a:r>
            <a:r>
              <a:rPr lang="en-GB" dirty="0"/>
              <a:t> </a:t>
            </a:r>
            <a:r>
              <a:rPr lang="en-GB" dirty="0" err="1"/>
              <a:t>Padhi</a:t>
            </a:r>
            <a:endParaRPr lang="en-GB" dirty="0"/>
          </a:p>
          <a:p>
            <a:r>
              <a:rPr lang="en-GB" dirty="0"/>
              <a:t>Principal, YCAT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9E1DC-D2F9-FA42-A1B3-66B8C93CA04D}"/>
              </a:ext>
            </a:extLst>
          </p:cNvPr>
          <p:cNvSpPr txBox="1"/>
          <p:nvPr/>
        </p:nvSpPr>
        <p:spPr>
          <a:xfrm>
            <a:off x="652213" y="3262617"/>
            <a:ext cx="4260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Department of BCA</a:t>
            </a:r>
          </a:p>
          <a:p>
            <a:r>
              <a:rPr lang="en-GB" dirty="0" err="1"/>
              <a:t>Yuvodaya</a:t>
            </a:r>
            <a:r>
              <a:rPr lang="en-GB" dirty="0"/>
              <a:t> College of Advanced Technology,</a:t>
            </a:r>
          </a:p>
          <a:p>
            <a:r>
              <a:rPr lang="en-GB" dirty="0" err="1"/>
              <a:t>Sakma</a:t>
            </a:r>
            <a:r>
              <a:rPr lang="en-GB" dirty="0"/>
              <a:t>, </a:t>
            </a:r>
            <a:r>
              <a:rPr lang="en-GB" dirty="0" err="1"/>
              <a:t>Balangir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A66D15-E5DA-7C6D-4572-F04B466AB0C8}"/>
              </a:ext>
            </a:extLst>
          </p:cNvPr>
          <p:cNvSpPr txBox="1"/>
          <p:nvPr/>
        </p:nvSpPr>
        <p:spPr>
          <a:xfrm>
            <a:off x="922114" y="2034895"/>
            <a:ext cx="10347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A Thesis Presentation Submitted in Partial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Fulfillment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of the Requirements for the Degree of</a:t>
            </a:r>
            <a:br>
              <a:rPr lang="en-GB" sz="16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</a:b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Bachelor of Computer Applications (BCA)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50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5043-B0AF-8072-F4F1-C251E7E9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6D4084-09BF-4DCB-4C8A-9108848067F7}"/>
              </a:ext>
            </a:extLst>
          </p:cNvPr>
          <p:cNvSpPr/>
          <p:nvPr/>
        </p:nvSpPr>
        <p:spPr>
          <a:xfrm>
            <a:off x="494523" y="1464906"/>
            <a:ext cx="10758196" cy="3928188"/>
          </a:xfrm>
          <a:prstGeom prst="roundRect">
            <a:avLst>
              <a:gd name="adj" fmla="val 10966"/>
            </a:avLst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F26DCB-93D0-EEE9-9183-E143E2EFA187}"/>
              </a:ext>
            </a:extLst>
          </p:cNvPr>
          <p:cNvSpPr/>
          <p:nvPr/>
        </p:nvSpPr>
        <p:spPr>
          <a:xfrm>
            <a:off x="830424" y="1679510"/>
            <a:ext cx="3564294" cy="3480319"/>
          </a:xfrm>
          <a:prstGeom prst="roundRect">
            <a:avLst>
              <a:gd name="adj" fmla="val 7552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95AF40-C17F-3747-B015-00585DF1EEF5}"/>
              </a:ext>
            </a:extLst>
          </p:cNvPr>
          <p:cNvGrpSpPr/>
          <p:nvPr/>
        </p:nvGrpSpPr>
        <p:grpSpPr>
          <a:xfrm>
            <a:off x="15240" y="6352770"/>
            <a:ext cx="12161520" cy="506593"/>
            <a:chOff x="15240" y="6352770"/>
            <a:chExt cx="12161520" cy="506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23DED4-BFCF-EA7A-CDA4-10ED4FACB1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15240" y="6352770"/>
              <a:ext cx="3723640" cy="50659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02F0FB-FD27-350C-5391-7D11C98FA4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3738880" y="6352770"/>
              <a:ext cx="3723640" cy="5065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C2EF1BC-22FB-4C58-4093-7A0AA5AE9F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7462520" y="6352770"/>
              <a:ext cx="3723640" cy="506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CEC4DD4-9442-95CD-B27D-501080D6B9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7" t="269" r="51576"/>
            <a:stretch/>
          </p:blipFill>
          <p:spPr>
            <a:xfrm rot="10800000">
              <a:off x="11186160" y="6352770"/>
              <a:ext cx="990600" cy="50523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78F2BED-FDD3-5F6F-85F4-F85962AB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4" y="48094"/>
            <a:ext cx="1098798" cy="1030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6EACBA-8158-9306-6584-64F2782E1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4" y="78573"/>
            <a:ext cx="891044" cy="99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DDA4D-A918-FD92-0625-11EF5F0CB50C}"/>
              </a:ext>
            </a:extLst>
          </p:cNvPr>
          <p:cNvSpPr txBox="1"/>
          <p:nvPr/>
        </p:nvSpPr>
        <p:spPr>
          <a:xfrm>
            <a:off x="4743580" y="556091"/>
            <a:ext cx="270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745728-510E-0FA8-D261-BBA386BD79FF}"/>
              </a:ext>
            </a:extLst>
          </p:cNvPr>
          <p:cNvSpPr txBox="1"/>
          <p:nvPr/>
        </p:nvSpPr>
        <p:spPr>
          <a:xfrm>
            <a:off x="5088232" y="2074030"/>
            <a:ext cx="6027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Internet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-&gt; Increase in Cyber Threats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 are reactive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Proactive Attack Prediction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helps analyze patterns in Network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117EF-CC07-FB54-C0F7-C7A43B31964E}"/>
              </a:ext>
            </a:extLst>
          </p:cNvPr>
          <p:cNvSpPr txBox="1"/>
          <p:nvPr/>
        </p:nvSpPr>
        <p:spPr>
          <a:xfrm>
            <a:off x="1611220" y="1790822"/>
            <a:ext cx="177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CYBER ATTACK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E85D0E-7996-EA47-51B7-86EE5F3B2F1C}"/>
              </a:ext>
            </a:extLst>
          </p:cNvPr>
          <p:cNvSpPr/>
          <p:nvPr/>
        </p:nvSpPr>
        <p:spPr>
          <a:xfrm>
            <a:off x="1007705" y="2271466"/>
            <a:ext cx="3209731" cy="2640563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98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391C-267D-2C2B-80B3-2D9F2627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14D05E-2952-99E4-D0A1-E66F4A30A234}"/>
              </a:ext>
            </a:extLst>
          </p:cNvPr>
          <p:cNvGrpSpPr/>
          <p:nvPr/>
        </p:nvGrpSpPr>
        <p:grpSpPr>
          <a:xfrm>
            <a:off x="15240" y="6352770"/>
            <a:ext cx="12161520" cy="506593"/>
            <a:chOff x="15240" y="6352770"/>
            <a:chExt cx="12161520" cy="506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703C15-2C7A-9834-1C48-2C5C50A009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15240" y="6352770"/>
              <a:ext cx="3723640" cy="50659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EC3F710-276D-733B-C31D-09DCD944FC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3738880" y="6352770"/>
              <a:ext cx="3723640" cy="5065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381D18A-FE26-72FB-E381-9CFFEA9CF5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7462520" y="6352770"/>
              <a:ext cx="3723640" cy="506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10BAD2-E80A-9154-45A2-AA512B1AC1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7" t="269" r="51576"/>
            <a:stretch/>
          </p:blipFill>
          <p:spPr>
            <a:xfrm rot="10800000">
              <a:off x="11186160" y="6352770"/>
              <a:ext cx="990600" cy="50523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D4DD64-648F-D63A-C75F-BBDA0D2F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4" y="48094"/>
            <a:ext cx="1098798" cy="1030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AF1955-603A-30A9-CFA2-46C3A2076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4" y="78573"/>
            <a:ext cx="891044" cy="99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2EB014-69A7-E188-137A-C7B8795E816B}"/>
              </a:ext>
            </a:extLst>
          </p:cNvPr>
          <p:cNvSpPr txBox="1"/>
          <p:nvPr/>
        </p:nvSpPr>
        <p:spPr>
          <a:xfrm>
            <a:off x="3938425" y="578339"/>
            <a:ext cx="4315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CYBER ATTACKS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BE9B2D-1AE5-6F88-95DE-7B277AE9A4C4}"/>
              </a:ext>
            </a:extLst>
          </p:cNvPr>
          <p:cNvSpPr/>
          <p:nvPr/>
        </p:nvSpPr>
        <p:spPr>
          <a:xfrm>
            <a:off x="1290735" y="1228615"/>
            <a:ext cx="6416352" cy="1045028"/>
          </a:xfrm>
          <a:prstGeom prst="roundRect">
            <a:avLst>
              <a:gd name="adj" fmla="val 24107"/>
            </a:avLst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DCBBE-954A-28B2-D98E-D0D69C4AB0D3}"/>
              </a:ext>
            </a:extLst>
          </p:cNvPr>
          <p:cNvSpPr txBox="1"/>
          <p:nvPr/>
        </p:nvSpPr>
        <p:spPr>
          <a:xfrm>
            <a:off x="2961796" y="1401633"/>
            <a:ext cx="4173479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DoS (Denial of Service) – overload 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52B15A-E380-2769-70ED-D8D6F728C0FD}"/>
              </a:ext>
            </a:extLst>
          </p:cNvPr>
          <p:cNvSpPr/>
          <p:nvPr/>
        </p:nvSpPr>
        <p:spPr>
          <a:xfrm>
            <a:off x="1509330" y="1261997"/>
            <a:ext cx="1233871" cy="978264"/>
          </a:xfrm>
          <a:prstGeom prst="roundRect">
            <a:avLst>
              <a:gd name="adj" fmla="val 24297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7DC4E3-C2A5-2415-9380-D6F55AC6F281}"/>
              </a:ext>
            </a:extLst>
          </p:cNvPr>
          <p:cNvSpPr/>
          <p:nvPr/>
        </p:nvSpPr>
        <p:spPr>
          <a:xfrm>
            <a:off x="3763342" y="2386000"/>
            <a:ext cx="6416353" cy="1045028"/>
          </a:xfrm>
          <a:prstGeom prst="roundRect">
            <a:avLst>
              <a:gd name="adj" fmla="val 24107"/>
            </a:avLst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A8DB5F-5170-1930-EF63-F37D05117F15}"/>
              </a:ext>
            </a:extLst>
          </p:cNvPr>
          <p:cNvSpPr txBox="1"/>
          <p:nvPr/>
        </p:nvSpPr>
        <p:spPr>
          <a:xfrm>
            <a:off x="4716145" y="2529333"/>
            <a:ext cx="3885477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R2L (Remote to Local) – remote access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C65CF47-8C44-4D40-55F4-F2E4D72E3C23}"/>
              </a:ext>
            </a:extLst>
          </p:cNvPr>
          <p:cNvSpPr/>
          <p:nvPr/>
        </p:nvSpPr>
        <p:spPr>
          <a:xfrm>
            <a:off x="8773723" y="2420685"/>
            <a:ext cx="1233871" cy="972570"/>
          </a:xfrm>
          <a:prstGeom prst="roundRect">
            <a:avLst>
              <a:gd name="adj" fmla="val 24297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0126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7C9472-F50A-7175-9B14-9938414A0D3C}"/>
              </a:ext>
            </a:extLst>
          </p:cNvPr>
          <p:cNvSpPr/>
          <p:nvPr/>
        </p:nvSpPr>
        <p:spPr>
          <a:xfrm>
            <a:off x="1290734" y="3534040"/>
            <a:ext cx="6416353" cy="1045028"/>
          </a:xfrm>
          <a:prstGeom prst="roundRect">
            <a:avLst>
              <a:gd name="adj" fmla="val 24107"/>
            </a:avLst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20404B-E406-D293-4954-3228A9B827C6}"/>
              </a:ext>
            </a:extLst>
          </p:cNvPr>
          <p:cNvSpPr txBox="1"/>
          <p:nvPr/>
        </p:nvSpPr>
        <p:spPr>
          <a:xfrm>
            <a:off x="3113729" y="3658711"/>
            <a:ext cx="402154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U2R (User to Root) – privilege escalation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7175DC-C049-16F6-0994-EB98289BC064}"/>
              </a:ext>
            </a:extLst>
          </p:cNvPr>
          <p:cNvSpPr/>
          <p:nvPr/>
        </p:nvSpPr>
        <p:spPr>
          <a:xfrm>
            <a:off x="1499999" y="3571378"/>
            <a:ext cx="1233871" cy="968613"/>
          </a:xfrm>
          <a:prstGeom prst="roundRect">
            <a:avLst>
              <a:gd name="adj" fmla="val 24297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342" t="-24728" r="-2323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4A2B48-E441-A2A9-D44C-94397DE47D6C}"/>
              </a:ext>
            </a:extLst>
          </p:cNvPr>
          <p:cNvSpPr/>
          <p:nvPr/>
        </p:nvSpPr>
        <p:spPr>
          <a:xfrm>
            <a:off x="3940616" y="4671071"/>
            <a:ext cx="6416353" cy="1045028"/>
          </a:xfrm>
          <a:prstGeom prst="roundRect">
            <a:avLst>
              <a:gd name="adj" fmla="val 24107"/>
            </a:avLst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226898-C908-3C1F-73B8-3A1B1AF43CAC}"/>
              </a:ext>
            </a:extLst>
          </p:cNvPr>
          <p:cNvSpPr txBox="1"/>
          <p:nvPr/>
        </p:nvSpPr>
        <p:spPr>
          <a:xfrm>
            <a:off x="4861501" y="4839173"/>
            <a:ext cx="3912222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Probe Attack – scanning vulnerabilities</a:t>
            </a:r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D5BDCE-0F39-AADC-C778-605F0B6895E2}"/>
              </a:ext>
            </a:extLst>
          </p:cNvPr>
          <p:cNvSpPr/>
          <p:nvPr/>
        </p:nvSpPr>
        <p:spPr>
          <a:xfrm>
            <a:off x="8834805" y="4719493"/>
            <a:ext cx="1233871" cy="968613"/>
          </a:xfrm>
          <a:prstGeom prst="roundRect">
            <a:avLst>
              <a:gd name="adj" fmla="val 24297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05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6829-DB0B-C7E0-3D1C-55E8B329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7491E24-1B73-94E6-1C71-5650F0127C8B}"/>
              </a:ext>
            </a:extLst>
          </p:cNvPr>
          <p:cNvGrpSpPr/>
          <p:nvPr/>
        </p:nvGrpSpPr>
        <p:grpSpPr>
          <a:xfrm>
            <a:off x="15240" y="6352770"/>
            <a:ext cx="12161520" cy="506593"/>
            <a:chOff x="15240" y="6352770"/>
            <a:chExt cx="12161520" cy="506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B9E9AE-DA24-4C80-6149-6BE56F3FA8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15240" y="6352770"/>
              <a:ext cx="3723640" cy="50659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0C8E587-0751-66AF-1095-F755FC7A7D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3738880" y="6352770"/>
              <a:ext cx="3723640" cy="5065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0A684A-F479-CB07-9225-364D8C7FB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7462520" y="6352770"/>
              <a:ext cx="3723640" cy="506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17D68CB-9F6F-EC87-4935-5E65C0EA69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7" t="269" r="51576"/>
            <a:stretch/>
          </p:blipFill>
          <p:spPr>
            <a:xfrm rot="10800000">
              <a:off x="11186160" y="6352770"/>
              <a:ext cx="990600" cy="50523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E7D9BDB-8819-EF27-A093-4329CE07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4" y="48094"/>
            <a:ext cx="1098798" cy="1030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409A90-5A71-F61D-CBCE-C7D36CA89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4" y="78573"/>
            <a:ext cx="891044" cy="99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51DB37-88A6-885A-9B3D-E3E10E3D19E8}"/>
              </a:ext>
            </a:extLst>
          </p:cNvPr>
          <p:cNvSpPr txBox="1"/>
          <p:nvPr/>
        </p:nvSpPr>
        <p:spPr>
          <a:xfrm>
            <a:off x="3738879" y="611205"/>
            <a:ext cx="3999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3262D3-8423-20B0-082D-AD3A6A11C5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" t="13995" r="3423" b="4016"/>
          <a:stretch>
            <a:fillRect/>
          </a:stretch>
        </p:blipFill>
        <p:spPr>
          <a:xfrm>
            <a:off x="1710247" y="1313365"/>
            <a:ext cx="9008553" cy="4381988"/>
          </a:xfrm>
          <a:prstGeom prst="roundRect">
            <a:avLst>
              <a:gd name="adj" fmla="val 15147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327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E20A-D114-2223-28EC-60F69C75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5754DB-2B74-EBB3-9A1B-99D6F83A6446}"/>
              </a:ext>
            </a:extLst>
          </p:cNvPr>
          <p:cNvSpPr/>
          <p:nvPr/>
        </p:nvSpPr>
        <p:spPr>
          <a:xfrm>
            <a:off x="789781" y="1209040"/>
            <a:ext cx="10942320" cy="4612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DB4C7-23E2-650C-874C-16D4C023E0B9}"/>
              </a:ext>
            </a:extLst>
          </p:cNvPr>
          <p:cNvSpPr/>
          <p:nvPr/>
        </p:nvSpPr>
        <p:spPr>
          <a:xfrm>
            <a:off x="6643306" y="1609611"/>
            <a:ext cx="4951860" cy="1049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8B8C1F-C0AC-11C3-0475-01F31A040B3E}"/>
              </a:ext>
            </a:extLst>
          </p:cNvPr>
          <p:cNvGrpSpPr/>
          <p:nvPr/>
        </p:nvGrpSpPr>
        <p:grpSpPr>
          <a:xfrm>
            <a:off x="15240" y="6352770"/>
            <a:ext cx="12161520" cy="506593"/>
            <a:chOff x="15240" y="6352770"/>
            <a:chExt cx="12161520" cy="506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A67663-539E-A2D9-5174-98C3C374AC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15240" y="6352770"/>
              <a:ext cx="3723640" cy="50659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1DC0F5-0045-BE55-3507-BF0EDAF65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3738880" y="6352770"/>
              <a:ext cx="3723640" cy="5065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A64EE3-CC36-437B-33FC-3E40999432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9"/>
            <a:stretch/>
          </p:blipFill>
          <p:spPr>
            <a:xfrm rot="10800000">
              <a:off x="7462520" y="6352770"/>
              <a:ext cx="3723640" cy="506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6AF3F6-24D4-A706-8B97-CEF81B1DA9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7" t="269" r="51576"/>
            <a:stretch/>
          </p:blipFill>
          <p:spPr>
            <a:xfrm rot="10800000">
              <a:off x="11186160" y="6352770"/>
              <a:ext cx="990600" cy="50523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F9F9E00-DBA8-1643-3295-0043CB1E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4" y="48094"/>
            <a:ext cx="1098798" cy="1030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C0D50-570A-606A-98AF-469269EF7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4" y="78573"/>
            <a:ext cx="891044" cy="99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6559E-FC47-B4B2-A77E-B8FA6682F669}"/>
              </a:ext>
            </a:extLst>
          </p:cNvPr>
          <p:cNvSpPr txBox="1"/>
          <p:nvPr/>
        </p:nvSpPr>
        <p:spPr>
          <a:xfrm>
            <a:off x="3040378" y="616857"/>
            <a:ext cx="55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E579E9-18A8-737E-123B-3C048E416D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0" r="8351"/>
          <a:stretch>
            <a:fillRect/>
          </a:stretch>
        </p:blipFill>
        <p:spPr>
          <a:xfrm>
            <a:off x="893547" y="1609612"/>
            <a:ext cx="5560030" cy="3788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B66CA7-9997-5B45-3E56-3346A851EED2}"/>
              </a:ext>
            </a:extLst>
          </p:cNvPr>
          <p:cNvSpPr txBox="1"/>
          <p:nvPr/>
        </p:nvSpPr>
        <p:spPr>
          <a:xfrm>
            <a:off x="6827520" y="1704825"/>
            <a:ext cx="39959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Programming Language </a:t>
            </a:r>
            <a:r>
              <a:rPr lang="en-US" sz="1600" b="1" dirty="0"/>
              <a:t>- Python</a:t>
            </a:r>
          </a:p>
          <a:p>
            <a:r>
              <a:rPr lang="en-US" sz="1600" dirty="0"/>
              <a:t>Chosen for its rich ecosystem of ML and data analysis libraries.</a:t>
            </a:r>
          </a:p>
          <a:p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F6A2F-DFE7-F747-BF17-EA413FA1486D}"/>
              </a:ext>
            </a:extLst>
          </p:cNvPr>
          <p:cNvSpPr/>
          <p:nvPr/>
        </p:nvSpPr>
        <p:spPr>
          <a:xfrm>
            <a:off x="6643306" y="2659381"/>
            <a:ext cx="4951860" cy="1688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7A8473-E8F9-28E3-5E01-F8BF2A9A6A00}"/>
              </a:ext>
            </a:extLst>
          </p:cNvPr>
          <p:cNvSpPr txBox="1"/>
          <p:nvPr/>
        </p:nvSpPr>
        <p:spPr>
          <a:xfrm>
            <a:off x="6827520" y="2659381"/>
            <a:ext cx="39959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Core Libraries</a:t>
            </a:r>
          </a:p>
          <a:p>
            <a:r>
              <a:rPr lang="en-IN" sz="1600" b="1" dirty="0"/>
              <a:t>NumPy &amp; Pandas:</a:t>
            </a:r>
            <a:r>
              <a:rPr lang="en-IN" sz="1600" dirty="0"/>
              <a:t> Data manipulation and numerical computation</a:t>
            </a:r>
          </a:p>
          <a:p>
            <a:r>
              <a:rPr lang="en-IN" sz="1600" b="1" dirty="0"/>
              <a:t>Scikit-learn:</a:t>
            </a:r>
            <a:r>
              <a:rPr lang="en-IN" sz="1600" dirty="0"/>
              <a:t> Model implementation, training, and evaluation</a:t>
            </a:r>
          </a:p>
          <a:p>
            <a:r>
              <a:rPr lang="en-IN" sz="1600" b="1" dirty="0"/>
              <a:t>Matplotlib:</a:t>
            </a:r>
            <a:r>
              <a:rPr lang="en-IN" sz="1600" dirty="0"/>
              <a:t> Visualization and EDA plotting</a:t>
            </a:r>
          </a:p>
          <a:p>
            <a:endParaRPr lang="en-IN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7612B-F3DE-4DFC-4A82-776502186269}"/>
              </a:ext>
            </a:extLst>
          </p:cNvPr>
          <p:cNvSpPr/>
          <p:nvPr/>
        </p:nvSpPr>
        <p:spPr>
          <a:xfrm>
            <a:off x="6643306" y="4220549"/>
            <a:ext cx="4951860" cy="11814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ABF21D-C99F-9666-7022-74AC60E2B1B6}"/>
              </a:ext>
            </a:extLst>
          </p:cNvPr>
          <p:cNvSpPr txBox="1"/>
          <p:nvPr/>
        </p:nvSpPr>
        <p:spPr>
          <a:xfrm>
            <a:off x="6827520" y="4238358"/>
            <a:ext cx="41452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Development Platform</a:t>
            </a:r>
          </a:p>
          <a:p>
            <a:r>
              <a:rPr lang="en-US" sz="1600" b="1" dirty="0"/>
              <a:t>Anaconda</a:t>
            </a:r>
            <a:r>
              <a:rPr lang="en-US" sz="1600" dirty="0"/>
              <a:t> distribution with </a:t>
            </a:r>
            <a:r>
              <a:rPr lang="en-US" sz="1600" b="1" dirty="0" err="1"/>
              <a:t>Jupyter</a:t>
            </a:r>
            <a:r>
              <a:rPr lang="en-US" sz="1600" b="1" dirty="0"/>
              <a:t> Notebook</a:t>
            </a:r>
            <a:r>
              <a:rPr lang="en-US" sz="1600" dirty="0"/>
              <a:t> for interactive experimentation and reproducible research.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5787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206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rohh</dc:creator>
  <cp:keywords>rohh</cp:keywords>
  <cp:lastModifiedBy>shiwashiv meher</cp:lastModifiedBy>
  <cp:revision>57</cp:revision>
  <dcterms:created xsi:type="dcterms:W3CDTF">2026-04-10T04:32:56Z</dcterms:created>
  <dcterms:modified xsi:type="dcterms:W3CDTF">2026-04-14T16:45:15Z</dcterms:modified>
</cp:coreProperties>
</file>